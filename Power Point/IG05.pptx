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2" r:id="rId1"/>
    <p:sldMasterId id="2147484988" r:id="rId2"/>
  </p:sldMasterIdLst>
  <p:notesMasterIdLst>
    <p:notesMasterId r:id="rId36"/>
  </p:notesMasterIdLst>
  <p:handoutMasterIdLst>
    <p:handoutMasterId r:id="rId37"/>
  </p:handoutMasterIdLst>
  <p:sldIdLst>
    <p:sldId id="325" r:id="rId3"/>
    <p:sldId id="839" r:id="rId4"/>
    <p:sldId id="840" r:id="rId5"/>
    <p:sldId id="841" r:id="rId6"/>
    <p:sldId id="859" r:id="rId7"/>
    <p:sldId id="884" r:id="rId8"/>
    <p:sldId id="885" r:id="rId9"/>
    <p:sldId id="886" r:id="rId10"/>
    <p:sldId id="881" r:id="rId11"/>
    <p:sldId id="887" r:id="rId12"/>
    <p:sldId id="843" r:id="rId13"/>
    <p:sldId id="892" r:id="rId14"/>
    <p:sldId id="845" r:id="rId15"/>
    <p:sldId id="883" r:id="rId16"/>
    <p:sldId id="888" r:id="rId17"/>
    <p:sldId id="872" r:id="rId18"/>
    <p:sldId id="889" r:id="rId19"/>
    <p:sldId id="890" r:id="rId20"/>
    <p:sldId id="893" r:id="rId21"/>
    <p:sldId id="894" r:id="rId22"/>
    <p:sldId id="873" r:id="rId23"/>
    <p:sldId id="895" r:id="rId24"/>
    <p:sldId id="896" r:id="rId25"/>
    <p:sldId id="876" r:id="rId26"/>
    <p:sldId id="878" r:id="rId27"/>
    <p:sldId id="880" r:id="rId28"/>
    <p:sldId id="879" r:id="rId29"/>
    <p:sldId id="891" r:id="rId30"/>
    <p:sldId id="854" r:id="rId31"/>
    <p:sldId id="860" r:id="rId32"/>
    <p:sldId id="882" r:id="rId33"/>
    <p:sldId id="857" r:id="rId34"/>
    <p:sldId id="858" r:id="rId35"/>
  </p:sldIdLst>
  <p:sldSz cx="9144000" cy="6858000" type="screen4x3"/>
  <p:notesSz cx="9942513" cy="6761163"/>
  <p:custDataLst>
    <p:tags r:id="rId3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9EA8C8-584C-4C01-89E3-CC153F351FCF}">
          <p14:sldIdLst>
            <p14:sldId id="325"/>
            <p14:sldId id="839"/>
            <p14:sldId id="840"/>
            <p14:sldId id="841"/>
            <p14:sldId id="859"/>
            <p14:sldId id="884"/>
            <p14:sldId id="885"/>
            <p14:sldId id="886"/>
            <p14:sldId id="881"/>
            <p14:sldId id="887"/>
            <p14:sldId id="843"/>
            <p14:sldId id="892"/>
            <p14:sldId id="845"/>
            <p14:sldId id="883"/>
            <p14:sldId id="888"/>
            <p14:sldId id="872"/>
            <p14:sldId id="889"/>
            <p14:sldId id="890"/>
            <p14:sldId id="893"/>
            <p14:sldId id="894"/>
            <p14:sldId id="873"/>
            <p14:sldId id="895"/>
            <p14:sldId id="896"/>
            <p14:sldId id="876"/>
            <p14:sldId id="878"/>
            <p14:sldId id="880"/>
            <p14:sldId id="879"/>
            <p14:sldId id="891"/>
            <p14:sldId id="854"/>
            <p14:sldId id="860"/>
            <p14:sldId id="882"/>
            <p14:sldId id="857"/>
            <p14:sldId id="8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D6C6"/>
    <a:srgbClr val="008AD5"/>
    <a:srgbClr val="FFFFFF"/>
    <a:srgbClr val="00B5FF"/>
    <a:srgbClr val="009CF3"/>
    <a:srgbClr val="005493"/>
    <a:srgbClr val="0096FF"/>
    <a:srgbClr val="FF2F92"/>
    <a:srgbClr val="7A81FF"/>
    <a:srgbClr val="BB5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4082" autoAdjust="0"/>
  </p:normalViewPr>
  <p:slideViewPr>
    <p:cSldViewPr snapToGrid="0">
      <p:cViewPr varScale="1">
        <p:scale>
          <a:sx n="116" d="100"/>
          <a:sy n="116" d="100"/>
        </p:scale>
        <p:origin x="2624" y="184"/>
      </p:cViewPr>
      <p:guideLst>
        <p:guide orient="horz" pos="816"/>
        <p:guide pos="521"/>
      </p:guideLst>
    </p:cSldViewPr>
  </p:slideViewPr>
  <p:outlineViewPr>
    <p:cViewPr>
      <p:scale>
        <a:sx n="33" d="100"/>
        <a:sy n="33" d="100"/>
      </p:scale>
      <p:origin x="0" y="-499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315"/>
    </p:cViewPr>
  </p:sorterViewPr>
  <p:notesViewPr>
    <p:cSldViewPr snapToGrid="0">
      <p:cViewPr varScale="1">
        <p:scale>
          <a:sx n="77" d="100"/>
          <a:sy n="77" d="100"/>
        </p:scale>
        <p:origin x="1599" y="43"/>
      </p:cViewPr>
      <p:guideLst>
        <p:guide orient="horz" pos="2130"/>
        <p:guide pos="3133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" Type="http://schemas.openxmlformats.org/officeDocument/2006/relationships/slide" Target="slides/slide1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tags" Target="tags/tag1.xml"/><Relationship Id="rId39" Type="http://schemas.openxmlformats.org/officeDocument/2006/relationships/presProps" Target="presProps.xml"/><Relationship Id="rId4" Type="http://schemas.openxmlformats.org/officeDocument/2006/relationships/slide" Target="slides/slide2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 dirty="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FAB118C-9CC5-46C6-A261-8E8616325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93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5625" y="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>
            <a:lvl1pPr algn="r"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500063"/>
            <a:ext cx="3400425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163" y="3221038"/>
            <a:ext cx="73691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38900"/>
            <a:ext cx="433228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defTabSz="913407">
              <a:defRPr sz="1200">
                <a:latin typeface="Helvetica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5625" y="6438900"/>
            <a:ext cx="4333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28" tIns="45713" rIns="91428" bIns="45713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CA46AE8F-55D5-467D-8760-46AABFD6E8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72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rgbClr val="E36C0A"/>
        </a:solidFill>
        <a:latin typeface="Times New Roman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5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46AE8F-55D5-467D-8760-46AABFD6E88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4294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373" y="685800"/>
            <a:ext cx="7901609" cy="1615966"/>
          </a:xfrm>
          <a:solidFill>
            <a:srgbClr val="D2691E"/>
          </a:solidFill>
          <a:ln>
            <a:solidFill>
              <a:srgbClr val="D2691E"/>
            </a:solidFill>
          </a:ln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19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660772DA-5EEF-F2DB-EA3A-53ED2791D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90488" indent="0">
              <a:tabLst/>
              <a:defRPr/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3A4BD7D-405F-9CB0-AA2C-010D5B4F7D04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600">
                <a:latin typeface="Helvetica" pitchFamily="2" charset="0"/>
              </a:defRPr>
            </a:lvl3pPr>
            <a:lvl4pPr>
              <a:defRPr sz="1600">
                <a:latin typeface="Helvetica" pitchFamily="2" charset="0"/>
              </a:defRPr>
            </a:lvl4pPr>
            <a:lvl5pPr>
              <a:defRPr sz="1600">
                <a:latin typeface="Helvetica" pitchFamily="2" charset="0"/>
              </a:defRPr>
            </a:lvl5pPr>
          </a:lstStyle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490A3F-A374-7A6E-AF01-14E3ADC8E0A4}"/>
              </a:ext>
            </a:extLst>
          </p:cNvPr>
          <p:cNvCxnSpPr/>
          <p:nvPr userDrawn="1"/>
        </p:nvCxnSpPr>
        <p:spPr bwMode="auto">
          <a:xfrm>
            <a:off x="579120" y="6658235"/>
            <a:ext cx="7934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3747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F549-2A59-0EBE-B20C-FDD132AA0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F5E6B-4232-7F47-6572-C584B624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181-A82F-DFFF-0C75-00D161BB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FD2-15E4-94FD-6B2F-AED1EAD5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8875-6B38-F6E0-7F20-3D45C9D4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0DF3-5750-400D-C0A3-FD269105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BC4B-D896-69F5-E7C3-62A4AB7A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07398-FDC7-1A26-6F22-383DEF79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A35C-7866-57F6-19ED-0D2C9294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3EC1F-A855-3058-4205-BD676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3BD2-D04D-C43F-C5DB-F859BE6B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B6478-CD27-AAB2-D9C3-903711F7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36A2-37B4-E9CC-9FE7-FA068FC4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65CB-C85A-1BEC-7089-2FDF5A62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4C664-95ED-AD50-E01A-84573DB4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6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BCED-5EB5-47E1-0BF0-783FDEFE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DFF23-8CDF-00B4-69A6-7A113B7A1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1131A-DEEA-72E3-2147-21823668A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BF4E-F3EE-751A-3277-A34B448B8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E018C-DE01-DD2D-91A4-8E4F4C4E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027FA-4DB8-8064-7F50-FC33CF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5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C92F-1A51-C9CF-592B-B791F2B1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D5B5-0196-29B0-0C59-AFC50C286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0ECBA-F070-B624-1183-A804AB30F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2231DF-2850-ABEF-478F-712432FB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D5C47-74CF-B0D8-AF5E-B61C5DF6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BD41A-DE03-A4C3-D852-986217220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D5BAC-5376-F14B-A7C2-6448B9DA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2040C-B4AA-29B9-072C-53D23770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5863-EB41-7519-D5D8-504BBCE0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EA473-481E-7A4E-0D15-CA8C9126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B42F5-5CDF-FCB6-3FFD-50104AC0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D58FF-0702-F585-C5E9-AF667AD1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166C8-F956-7DF6-EF97-BF79F049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DFCA2-8259-1499-BB18-43AF6234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F6BB-25BE-AE16-B87C-55A7EA6E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5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372F-13DF-2C8B-A02E-7FA8660C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A82C-ED11-0064-5D40-A0969ACEB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6AD5D-C77F-2DEB-F932-42D23B45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24465-317D-30C8-E120-77B80050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A9908-C7A3-84A0-B790-860F5DA7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6993-9C35-41D2-39DB-C35CAC9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5142-42C2-98C6-191B-7D76312C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79E1E-F134-700D-EE57-D753560BA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3C7F-9F56-6EE4-7729-50E8E87AB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8426-D088-EB2C-AA97-0F35A0F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4F67-DE2A-27E0-A332-10FED3DE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3980A-1732-61A9-1869-56D8BB42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3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0EA8-09A8-DB4C-245F-2B2ACFAF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B735B-DE2A-097B-BF58-29178F6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BF62-F6A7-8AA2-F96A-D569858A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2532-AE81-CABD-BF79-AE45984E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80679-0A10-B48C-45F5-CD24BEF19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44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7BEC8-8876-DCEC-4C31-E710E5C66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7F8C-50FA-23DD-E83D-04B476814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E797-D19F-0A9F-0C01-A6181225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5B23-40E1-9EB6-E8AB-800821F5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CA9C8-FF39-4ACB-2644-7DBFF35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0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0007-9E92-488F-FBC3-8F416B54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664E-E30C-F040-0357-44B0CD98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09917-0B98-9D01-2161-181852C1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9CBC5-B5C7-CB3D-CD6C-C05C764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585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w="317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 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  </a:t>
            </a:r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FEE6AF91-C5F0-494A-81BE-8C742BFB874C}" type="datetime2">
              <a:rPr lang="en-US" altLang="en-US" sz="1000" b="1" smtClean="0">
                <a:solidFill>
                  <a:schemeClr val="bg1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Wednesday, November 12, 2025</a:t>
            </a:fld>
            <a:endParaRPr lang="en-US" altLang="en-US" sz="1000" b="1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pic>
        <p:nvPicPr>
          <p:cNvPr id="3" name="Picture 2" descr="JUIT Office Photos | Glassdoor">
            <a:extLst>
              <a:ext uri="{FF2B5EF4-FFF2-40B4-BE49-F238E27FC236}">
                <a16:creationId xmlns:a16="http://schemas.microsoft.com/office/drawing/2014/main" id="{9C49182E-65AF-DD89-1EC9-BD22AFA987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49072" y="42901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1EF5F1E6-CB5A-2AA7-E80E-C34A90324CDF}"/>
              </a:ext>
            </a:extLst>
          </p:cNvPr>
          <p:cNvSpPr txBox="1">
            <a:spLocks/>
          </p:cNvSpPr>
          <p:nvPr userDrawn="1"/>
        </p:nvSpPr>
        <p:spPr>
          <a:xfrm>
            <a:off x="123673" y="6687228"/>
            <a:ext cx="8694256" cy="19539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5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       </a:t>
            </a:r>
            <a:r>
              <a:rPr lang="en-US" sz="900" dirty="0">
                <a:solidFill>
                  <a:srgbClr val="002060"/>
                </a:solidFill>
                <a:latin typeface="Palatino" pitchFamily="2" charset="77"/>
                <a:ea typeface="Palatino" pitchFamily="2" charset="77"/>
              </a:rPr>
              <a:t>Major Project – I (18B19CI791) End-Term Evaluation (ETE) | Department of CSE &amp; IT | AY 2025-26. 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8C0F4A93-94A3-EEA3-40A0-2AA166503844}"/>
              </a:ext>
            </a:extLst>
          </p:cNvPr>
          <p:cNvSpPr txBox="1">
            <a:spLocks/>
          </p:cNvSpPr>
          <p:nvPr userDrawn="1"/>
        </p:nvSpPr>
        <p:spPr>
          <a:xfrm>
            <a:off x="8798560" y="6613912"/>
            <a:ext cx="259243" cy="246062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50" dirty="0">
              <a:solidFill>
                <a:srgbClr val="002060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1E367-86B8-5C9F-E2DA-EA8B374AA0AD}"/>
              </a:ext>
            </a:extLst>
          </p:cNvPr>
          <p:cNvSpPr txBox="1"/>
          <p:nvPr userDrawn="1"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F37DA46-7849-8B45-8870-09779661198C}" type="slidenum">
              <a:rPr lang="en-US" sz="900" smtClean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pPr algn="ctr"/>
              <a:t>‹#›</a:t>
            </a:fld>
            <a:r>
              <a:rPr lang="en-US" sz="900" dirty="0">
                <a:solidFill>
                  <a:srgbClr val="005493"/>
                </a:solidFill>
                <a:latin typeface="Palatino" pitchFamily="2" charset="77"/>
                <a:ea typeface="Palatino" pitchFamily="2" charset="77"/>
              </a:rPr>
              <a:t>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n-lt"/>
          <a:ea typeface="MS PGothic" panose="020B0600070205080204" pitchFamily="34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elvetica" panose="020B0604020202020204" pitchFamily="34" charset="0"/>
          <a:ea typeface="MS PGothic" panose="020B0600070205080204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kumimoji="1" sz="18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tx1"/>
        </a:buClr>
        <a:buSzPct val="100000"/>
        <a:buFont typeface="Courier New" panose="02070309020205020404" pitchFamily="49" charset="0"/>
        <a:buChar char="o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3pPr>
      <a:lvl4pPr marL="14287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4pPr>
      <a:lvl5pPr marL="1771650" indent="-228600" algn="just" rtl="0" eaLnBrk="0" fontAlgn="base" hangingPunct="0">
        <a:lnSpc>
          <a:spcPct val="150000"/>
        </a:lnSpc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600">
          <a:solidFill>
            <a:schemeClr val="tx1"/>
          </a:solidFill>
          <a:latin typeface="Helvetica" pitchFamily="2" charset="0"/>
          <a:ea typeface="Tahoma" panose="020B0604030504040204" pitchFamily="34" charset="0"/>
          <a:cs typeface="Tahoma" panose="020B0604030504040204" pitchFamily="34" charset="0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1EF06-99F3-7E6C-9BF2-BD4BE618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1F65-9F9F-07B2-D418-72BC478B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58697-C660-8953-14A2-614079BB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509C-50A6-7446-A231-A4C5FA90B28F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EF59-EF14-9B74-67DE-1763E5B7A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D9C0-D19B-AF9A-1547-969981E03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D7B32-6FB4-9B4F-9C66-D4AD63211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0" r:id="rId2"/>
    <p:sldLayoutId id="2147484991" r:id="rId3"/>
    <p:sldLayoutId id="2147484992" r:id="rId4"/>
    <p:sldLayoutId id="2147484993" r:id="rId5"/>
    <p:sldLayoutId id="2147484994" r:id="rId6"/>
    <p:sldLayoutId id="2147484995" r:id="rId7"/>
    <p:sldLayoutId id="2147484996" r:id="rId8"/>
    <p:sldLayoutId id="2147484997" r:id="rId9"/>
    <p:sldLayoutId id="2147484998" r:id="rId10"/>
    <p:sldLayoutId id="2147484999" r:id="rId11"/>
    <p:sldLayoutId id="21474850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11380"/>
            <a:ext cx="9144000" cy="759871"/>
          </a:xfrm>
          <a:solidFill>
            <a:srgbClr val="0037A4"/>
          </a:solidFill>
          <a:ln w="19050">
            <a:solidFill>
              <a:schemeClr val="bg1"/>
            </a:solidFill>
          </a:ln>
        </p:spPr>
        <p:txBody>
          <a:bodyPr anchor="t"/>
          <a:lstStyle/>
          <a:p>
            <a:pPr eaLnBrk="1" hangingPunct="1">
              <a:lnSpc>
                <a:spcPct val="150000"/>
              </a:lnSpc>
            </a:pPr>
            <a:endParaRPr lang="en-US" altLang="en-US" sz="1400" b="1" dirty="0">
              <a:cs typeface="Tahoma" panose="020B0604030504040204" pitchFamily="34" charset="0"/>
            </a:endParaRPr>
          </a:p>
          <a:p>
            <a:pPr/>
            <a:r>
              <a:t>Water Positive Intelligence: AI-Driven Monitoring &amp; Efficiency</a:t>
            </a:r>
          </a:p>
          <a:p>
            <a:pPr/>
            <a:r>
              <a:t>Major Project - I | AY 2025-26</a:t>
            </a:r>
          </a:p>
          <a:p>
            <a:pPr/>
            <a:r>
              <a:t>Anshika Bhardwaj (221030040)</a:t>
            </a:r>
          </a:p>
          <a:p>
            <a:pPr/>
            <a:r>
              <a:t>Supervisor: Mr. Akshay Kumar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FB7B0-90E1-217E-359E-488BB2E7656E}"/>
              </a:ext>
            </a:extLst>
          </p:cNvPr>
          <p:cNvSpPr/>
          <p:nvPr/>
        </p:nvSpPr>
        <p:spPr>
          <a:xfrm>
            <a:off x="1457427" y="2108091"/>
            <a:ext cx="6229141" cy="1069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Major Project - I (18B19CI791) | AY 2025-26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Palatino" pitchFamily="2" charset="77"/>
                <a:ea typeface="Palatino" pitchFamily="2" charset="77"/>
                <a:cs typeface="Times New Roman" pitchFamily="18" charset="0"/>
              </a:rPr>
              <a:t>End-Term Evaluation | December 2025.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B7EDF-18D7-C792-681D-E69AE68A4AAB}"/>
              </a:ext>
            </a:extLst>
          </p:cNvPr>
          <p:cNvSpPr txBox="1"/>
          <p:nvPr/>
        </p:nvSpPr>
        <p:spPr>
          <a:xfrm>
            <a:off x="517798" y="4498606"/>
            <a:ext cx="3620582" cy="245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Group No.: </a:t>
            </a:r>
          </a:p>
          <a:p>
            <a:endParaRPr lang="en-IN" sz="1600" dirty="0">
              <a:latin typeface="Helvetica" pitchFamily="2" charset="0"/>
              <a:ea typeface="Palatino" pitchFamily="2" charset="77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IN" sz="1600" b="1" dirty="0">
                <a:latin typeface="Helvetica" pitchFamily="2" charset="0"/>
                <a:ea typeface="Palatino" pitchFamily="2" charset="77"/>
                <a:cs typeface="Times New Roman" panose="02020603050405020304" pitchFamily="18" charset="0"/>
              </a:rPr>
              <a:t>Team Member (s)</a:t>
            </a:r>
            <a:endParaRPr lang="en-US" sz="1600" b="1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(Roll Number)</a:t>
            </a:r>
          </a:p>
          <a:p>
            <a:pPr algn="ctr"/>
            <a:endParaRPr lang="en-US" sz="1600" dirty="0">
              <a:latin typeface="Helvetica" pitchFamily="2" charset="0"/>
              <a:ea typeface="Palatino" pitchFamily="2" charset="77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2713F-9CAD-198F-43B7-75929E7A5424}"/>
              </a:ext>
            </a:extLst>
          </p:cNvPr>
          <p:cNvSpPr txBox="1"/>
          <p:nvPr/>
        </p:nvSpPr>
        <p:spPr>
          <a:xfrm>
            <a:off x="4871438" y="5041029"/>
            <a:ext cx="4118326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rPr>
              <a:t>Supervisor</a:t>
            </a:r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Name: </a:t>
            </a:r>
          </a:p>
          <a:p>
            <a:pPr marL="357188">
              <a:lnSpc>
                <a:spcPct val="125000"/>
              </a:lnSpc>
            </a:pPr>
            <a:r>
              <a:rPr lang="en-US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Designation: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314CA5-1CBF-7BB0-83BB-4FDA4318A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492" y="-165253"/>
            <a:ext cx="1178805" cy="895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D618C9-A35C-A359-4E30-21B6471F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901" y="160424"/>
            <a:ext cx="1015707" cy="345492"/>
          </a:xfrm>
          <a:prstGeom prst="rect">
            <a:avLst/>
          </a:prstGeom>
        </p:spPr>
      </p:pic>
      <p:pic>
        <p:nvPicPr>
          <p:cNvPr id="12" name="Picture 11" descr="JUIT Office Photos | Glassdoor">
            <a:extLst>
              <a:ext uri="{FF2B5EF4-FFF2-40B4-BE49-F238E27FC236}">
                <a16:creationId xmlns:a16="http://schemas.microsoft.com/office/drawing/2014/main" id="{7647374D-C05A-F866-81A8-19ED5262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17" y="93342"/>
            <a:ext cx="815248" cy="679009"/>
          </a:xfrm>
          <a:prstGeom prst="rect">
            <a:avLst/>
          </a:prstGeom>
          <a:noFill/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7539BDE9-603E-4BD3-A201-EB56FD66F79C}"/>
              </a:ext>
            </a:extLst>
          </p:cNvPr>
          <p:cNvSpPr txBox="1">
            <a:spLocks/>
          </p:cNvSpPr>
          <p:nvPr/>
        </p:nvSpPr>
        <p:spPr>
          <a:xfrm>
            <a:off x="-2" y="601361"/>
            <a:ext cx="9144000" cy="1411285"/>
          </a:xfrm>
          <a:prstGeom prst="rect">
            <a:avLst/>
          </a:prstGeom>
        </p:spPr>
        <p:txBody>
          <a:bodyPr anchor="b"/>
          <a:lstStyle/>
          <a:p>
            <a:pPr algn="ctr" eaLnBrk="1" fontAlgn="auto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IN" sz="28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Jaypee University of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Palatino" pitchFamily="2" charset="77"/>
                <a:ea typeface="Palatino" pitchFamily="2" charset="77"/>
                <a:cs typeface="Times New Roman" pitchFamily="18" charset="0"/>
              </a:rPr>
              <a:t>Department of Computer Science and Engineering and Information Technology</a:t>
            </a:r>
            <a:endParaRPr kumimoji="0" lang="en-IN" sz="2600" b="1" i="0" u="none" strike="noStrike" kern="1200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alatino" pitchFamily="2" charset="77"/>
              <a:ea typeface="Palatino" pitchFamily="2" charset="7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Introduction</a:t>
            </a:r>
          </a:p>
          <a:p>
            <a:pPr/>
            <a:r>
              <a:t>• Industries face increasing water scarcity and strict regulatory requirements.</a:t>
            </a:r>
          </a:p>
          <a:p>
            <a:pPr/>
            <a:r>
              <a:t>• Project enhances AI-driven monitoring, anomaly detection, and operational intelligence.</a:t>
            </a:r>
          </a:p>
          <a:p>
            <a:pPr/>
            <a:r>
              <a:t>• Developed as part of internship at FluxGen Sustainable Technologies.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4153359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Introduction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Problem Statement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Objectives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Literature Review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Work Done (after Mid-Term Evaluation)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Project Design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Tools, Technologies and Languages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Dataset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Implementation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Experimental Results and Evaluation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Key Learnings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Work Contribution and Attendance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Supervisor Interactions</a:t>
            </a:r>
          </a:p>
          <a:p>
            <a:pPr marL="357188" indent="-261938">
              <a:lnSpc>
                <a:spcPct val="140000"/>
              </a:lnSpc>
            </a:pPr>
            <a:endParaRPr lang="en-IN" sz="1600" dirty="0">
              <a:ea typeface="Palatin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2881-9DEC-B43E-083D-F84E7CEACD33}"/>
              </a:ext>
            </a:extLst>
          </p:cNvPr>
          <p:cNvSpPr txBox="1">
            <a:spLocks/>
          </p:cNvSpPr>
          <p:nvPr/>
        </p:nvSpPr>
        <p:spPr bwMode="auto">
          <a:xfrm>
            <a:off x="5233012" y="804231"/>
            <a:ext cx="3833872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Future Work</a:t>
            </a:r>
          </a:p>
          <a:p>
            <a:pPr marL="357188" indent="-261938">
              <a:lnSpc>
                <a:spcPct val="140000"/>
              </a:lnSpc>
            </a:pPr>
            <a:r>
              <a:rPr lang="en-IN" sz="1600" dirty="0">
                <a:ea typeface="Palatino" pitchFamily="2" charset="77"/>
              </a:rPr>
              <a:t>Project Plan</a:t>
            </a:r>
          </a:p>
          <a:p>
            <a:pPr marL="357188" indent="-261938" algn="just">
              <a:lnSpc>
                <a:spcPct val="140000"/>
              </a:lnSpc>
              <a:buFont typeface="Arial" pitchFamily="34" charset="0"/>
              <a:buChar char="•"/>
            </a:pPr>
            <a:r>
              <a:rPr lang="en-IN" sz="1600" dirty="0">
                <a:ea typeface="Palatino" pitchFamily="2" charset="77"/>
              </a:rPr>
              <a:t>References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1600" kern="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550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Problem Statement</a:t>
            </a:r>
          </a:p>
          <a:p>
            <a:pPr/>
            <a:r>
              <a:t>• Inconsistent or missing sensor data due to unreliable networks.</a:t>
            </a:r>
          </a:p>
          <a:p>
            <a:pPr/>
            <a:r>
              <a:t>• Undetected continuous leaks causing major water loss.</a:t>
            </a:r>
          </a:p>
          <a:p>
            <a:pPr/>
            <a:r>
              <a:t>• Difficulty interpreting raw data and lack of actionable insights.</a:t>
            </a:r>
          </a:p>
          <a:p>
            <a:pPr/>
            <a:r>
              <a:t>• Operational workflows are disconnected and inefficient.</a:t>
            </a:r>
          </a:p>
          <a:p>
            <a:pPr/>
            <a:r>
              <a:t>• Regulatory documentation requires automation.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for the project introduction.</a:t>
            </a:r>
          </a:p>
        </p:txBody>
      </p:sp>
    </p:spTree>
    <p:extLst>
      <p:ext uri="{BB962C8B-B14F-4D97-AF65-F5344CB8AC3E}">
        <p14:creationId xmlns:p14="http://schemas.microsoft.com/office/powerpoint/2010/main" val="359526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Objectives</a:t>
            </a:r>
          </a:p>
          <a:p>
            <a:pPr/>
            <a:r>
              <a:t>• Develop real-time KPI dashboards for water neutrality and efficiency.</a:t>
            </a:r>
          </a:p>
          <a:p>
            <a:pPr/>
            <a:r>
              <a:t>• Enhance data cleaning, interpolation, and trend accuracy.</a:t>
            </a:r>
          </a:p>
          <a:p>
            <a:pPr/>
            <a:r>
              <a:t>• Implement multi-tier anomaly &amp; leak detection (CFLD).</a:t>
            </a:r>
          </a:p>
          <a:p>
            <a:pPr/>
            <a:r>
              <a:t>• Automate reporting and operational workflows.</a:t>
            </a:r>
          </a:p>
          <a:p>
            <a:pPr/>
            <a:r>
              <a:t>• Support sustainability goals aligned with SDG-6.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one slide for the problem statement.</a:t>
            </a:r>
          </a:p>
        </p:txBody>
      </p:sp>
    </p:spTree>
    <p:extLst>
      <p:ext uri="{BB962C8B-B14F-4D97-AF65-F5344CB8AC3E}">
        <p14:creationId xmlns:p14="http://schemas.microsoft.com/office/powerpoint/2010/main" val="292789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one slide for the objectives.</a:t>
            </a:r>
          </a:p>
        </p:txBody>
      </p:sp>
    </p:spTree>
    <p:extLst>
      <p:ext uri="{BB962C8B-B14F-4D97-AF65-F5344CB8AC3E}">
        <p14:creationId xmlns:p14="http://schemas.microsoft.com/office/powerpoint/2010/main" val="2560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25FF3-733E-7FFB-B98E-115B69886CF7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D1C-6E0E-88C5-66A3-B524DCAA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0671-A451-62A6-6861-A0CBB876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A8BFBD-5585-5A38-BE37-37B3EE9F27F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94D322-3275-F1E8-F7CB-393836BD7150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12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68AD-2D17-3232-24A7-12A67A6A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FA6A7-13C6-6620-A64F-1B943F0A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AD5CEA-3122-9816-6FD2-79A629EBE51B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7F5FD8-9273-F9B6-541B-18152AA7236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11.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7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B29-338F-2CC5-CB7B-CE349253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9604-CF58-49D5-2EBA-43566555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7523C-8990-B920-ED90-F4134EBEE7A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4C4205-89F0-ED73-BA31-71FDF2EC3DB2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13.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15.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16.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09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1AC5-F70F-BC11-CD23-238B648F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4527-B995-4090-178B-39BCD87C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Literature Review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307E8F-D0B3-507D-8095-564C9FAE91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855C7B-99A4-2F3C-C4F1-D8CBA11D4BE5}"/>
              </a:ext>
            </a:extLst>
          </p:cNvPr>
          <p:cNvGraphicFramePr>
            <a:graphicFrameLocks noGrp="1"/>
          </p:cNvGraphicFramePr>
          <p:nvPr/>
        </p:nvGraphicFramePr>
        <p:xfrm>
          <a:off x="110168" y="881348"/>
          <a:ext cx="8923663" cy="55747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2256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76027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421176">
                  <a:extLst>
                    <a:ext uri="{9D8B030D-6E8A-4147-A177-3AD203B41FA5}">
                      <a16:colId xmlns:a16="http://schemas.microsoft.com/office/drawing/2014/main" val="17531478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906716"/>
                    </a:ext>
                  </a:extLst>
                </a:gridCol>
                <a:gridCol w="1905918">
                  <a:extLst>
                    <a:ext uri="{9D8B030D-6E8A-4147-A177-3AD203B41FA5}">
                      <a16:colId xmlns:a16="http://schemas.microsoft.com/office/drawing/2014/main" val="359970441"/>
                    </a:ext>
                  </a:extLst>
                </a:gridCol>
              </a:tblGrid>
              <a:tr h="7601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S. No.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Author &amp; 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Paper Title 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[Citation]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Journal/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Conference</a:t>
                      </a:r>
                      <a:br>
                        <a:rPr lang="en-US" sz="1400" b="0" i="0" dirty="0">
                          <a:latin typeface="Helvetica" pitchFamily="2" charset="0"/>
                        </a:rPr>
                      </a:br>
                      <a:r>
                        <a:rPr lang="en-US" sz="1400" b="0" i="0" dirty="0">
                          <a:latin typeface="Helvetica" pitchFamily="2" charset="0"/>
                        </a:rPr>
                        <a:t>(Year)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Tools/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Techniques/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Dataset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Key Findings/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Results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Limitations/</a:t>
                      </a:r>
                    </a:p>
                    <a:p>
                      <a:pPr algn="ctr"/>
                      <a:r>
                        <a:rPr lang="en-US" sz="1400" b="0" i="0" dirty="0">
                          <a:latin typeface="Helvetica" pitchFamily="2" charset="0"/>
                        </a:rPr>
                        <a:t>Gaps Identified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17.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18.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19.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1203634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latin typeface="Helvetica" pitchFamily="2" charset="0"/>
                        </a:rPr>
                        <a:t>20.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49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Done (after Mid-Term Evaluation)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one slide for describing work done after mid-term evaluation (MTE)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892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225B-EBC5-6594-440A-BA4E7ABC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7A5E-A7EE-D473-561F-4A64A753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1D5D0B-1AF1-89E5-B6B0-118FFECC459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9046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1498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98B9-7821-8ACD-C792-3B5F23C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48411-792B-E2E6-69EC-2D600A8E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Design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606774-D02D-0AA6-E33B-F48A47CAD52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max. three slides for project design.</a:t>
            </a:r>
          </a:p>
          <a:p>
            <a:pPr marL="357188" indent="-261938"/>
            <a:r>
              <a:rPr lang="en-IN" dirty="0"/>
              <a:t>Clearly outline system architecture, data flow, and module interactions using </a:t>
            </a:r>
            <a:r>
              <a:rPr lang="en-IN" b="1" dirty="0"/>
              <a:t>neatly drawn diagrams and flowcharts</a:t>
            </a:r>
            <a:r>
              <a:rPr lang="en-IN" dirty="0"/>
              <a:t>. </a:t>
            </a:r>
          </a:p>
          <a:p>
            <a:pPr marL="357188" indent="-261938"/>
            <a:r>
              <a:rPr lang="en-IN" dirty="0"/>
              <a:t>Emphasize key design decisions, algorithms, and technologies with </a:t>
            </a:r>
            <a:r>
              <a:rPr lang="en-IN" b="1" dirty="0"/>
              <a:t>concise explanations and visual aids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7930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/>
              <a:t>Use a maximum of two slides to describe the tools, technologies, and programming languages to be used in the project, along with their version information for each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308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83E9-4D65-8F6A-A293-9964898E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F428-D835-24F5-B739-88BAA5A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Tools, Technologies and Languages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E003AF-2ACF-683D-8024-26560017920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/>
              <a:t>Use a maximum of two slides to describe the tools, technologies, and programming languages to be used in the project, along with their version information for each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2468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Dataset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800" dirty="0">
                <a:ea typeface="Palatino" pitchFamily="2" charset="77"/>
              </a:rPr>
              <a:t>Use </a:t>
            </a:r>
            <a:r>
              <a:rPr lang="en-IN" dirty="0">
                <a:ea typeface="Palatino" pitchFamily="2" charset="77"/>
              </a:rPr>
              <a:t>one </a:t>
            </a:r>
            <a:r>
              <a:rPr lang="en-IN" sz="1800" dirty="0">
                <a:ea typeface="Palatino" pitchFamily="2" charset="77"/>
              </a:rPr>
              <a:t>slide to describe your dataset, if any.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Otherwise, leave this slide blank.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0581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for project implementation.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dataset description, important code snippets demonstrating core logic, algorithms, tools and techniques, etc.</a:t>
            </a:r>
          </a:p>
          <a:p>
            <a:pPr marL="357188" indent="-261938"/>
            <a:r>
              <a:rPr lang="en-IN" dirty="0"/>
              <a:t>Demonstrate </a:t>
            </a:r>
            <a:r>
              <a:rPr lang="en-IN" b="1" dirty="0"/>
              <a:t>how different code components interact</a:t>
            </a:r>
            <a:r>
              <a:rPr lang="en-IN" dirty="0"/>
              <a:t>, focusing on key functions, modules, and workflow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7709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C85D1-0BFF-36D3-E66B-B3157EA52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826D-CDF3-C24C-885D-ACDC843C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0784C3-80BA-D79F-422B-B1A651248ABD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for project implementation.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dataset description, important code snippets demonstrating core logic, algorithms, tools and techniques, etc.</a:t>
            </a:r>
          </a:p>
          <a:p>
            <a:pPr marL="357188" indent="-261938"/>
            <a:r>
              <a:rPr lang="en-IN" dirty="0"/>
              <a:t>Demonstrate </a:t>
            </a:r>
            <a:r>
              <a:rPr lang="en-IN" b="1" dirty="0"/>
              <a:t>how different code components interact</a:t>
            </a:r>
            <a:r>
              <a:rPr lang="en-IN" dirty="0"/>
              <a:t>, focusing on key functions, modules, and workflow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0366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31DC-3C21-12BE-7E18-E64B47D1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0750-7FC2-DBC8-B25E-E4505654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Implementation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B77656-C745-88CA-F06B-6046B0BAF21A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for project implementation.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dataset description, important code snippets demonstrating core logic, algorithms, tools and techniques, etc.</a:t>
            </a:r>
          </a:p>
          <a:p>
            <a:pPr marL="357188" indent="-261938"/>
            <a:r>
              <a:rPr lang="en-IN" dirty="0"/>
              <a:t>Demonstrate </a:t>
            </a:r>
            <a:r>
              <a:rPr lang="en-IN" b="1" dirty="0"/>
              <a:t>how different code components interact</a:t>
            </a:r>
            <a:r>
              <a:rPr lang="en-IN" dirty="0"/>
              <a:t>, focusing on key functions, modules, and workflow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76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00FA-E015-693D-5750-83EC8B7D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EA1E-C26B-60E9-2BA3-86D15261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84451-44FA-A9E5-6C25-938EFC57D3F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to show your experimental results.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detailed findings, interpretation of results, comparison with existing solutions t</a:t>
            </a:r>
            <a:r>
              <a:rPr lang="en-IN" dirty="0"/>
              <a:t>o provide context and significance</a:t>
            </a:r>
            <a:r>
              <a:rPr lang="en-IN" dirty="0">
                <a:ea typeface="Palatino" pitchFamily="2" charset="77"/>
              </a:rPr>
              <a:t>.</a:t>
            </a:r>
          </a:p>
          <a:p>
            <a:pPr marL="357188" indent="-261938"/>
            <a:r>
              <a:rPr lang="en-IN" dirty="0"/>
              <a:t>Use tables, graphs, and charts to highlight trends, patterns, while </a:t>
            </a:r>
            <a:r>
              <a:rPr lang="en-IN" b="1" dirty="0"/>
              <a:t>aligning findings with the project’s objectives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1605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21D5-3E69-1A6A-0123-ED3A9B56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FDAF-CBFB-D6AE-7160-8429C02D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A801C9-546A-4637-E895-7436F30588D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to show your experimental results.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detailed findings, interpretation of results, comparison with existing solutions t</a:t>
            </a:r>
            <a:r>
              <a:rPr lang="en-IN" dirty="0"/>
              <a:t>o provide context and significance</a:t>
            </a:r>
            <a:r>
              <a:rPr lang="en-IN" dirty="0">
                <a:ea typeface="Palatino" pitchFamily="2" charset="77"/>
              </a:rPr>
              <a:t>.</a:t>
            </a:r>
          </a:p>
          <a:p>
            <a:pPr marL="357188" indent="-261938"/>
            <a:r>
              <a:rPr lang="en-IN" dirty="0"/>
              <a:t>Use tables, graphs, and charts to highlight trends, patterns, while </a:t>
            </a:r>
            <a:r>
              <a:rPr lang="en-IN" b="1" dirty="0"/>
              <a:t>aligning findings with the project’s objectives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0475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2C902-FFCF-57F0-6CA2-5CF88BF2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E197-E8D0-BB05-54CC-E1A2D7034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Experimental Results and Evaluation (</a:t>
            </a:r>
            <a:r>
              <a:rPr lang="en-IN" sz="2400" dirty="0" err="1">
                <a:ea typeface="Palatino" pitchFamily="2" charset="77"/>
              </a:rPr>
              <a:t>cont</a:t>
            </a:r>
            <a:r>
              <a:rPr lang="en-IN" sz="240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B1E0E4-053E-905C-34DC-B1931DBE00E0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max. three slides to show your experimental results.</a:t>
            </a:r>
          </a:p>
          <a:p>
            <a:pPr marL="357188" indent="-261938"/>
            <a:r>
              <a:rPr lang="en-IN" dirty="0">
                <a:ea typeface="Palatino" pitchFamily="2" charset="77"/>
              </a:rPr>
              <a:t>Include detailed findings, interpretation of results, comparison with existing solutions t</a:t>
            </a:r>
            <a:r>
              <a:rPr lang="en-IN" dirty="0"/>
              <a:t>o provide context and significance</a:t>
            </a:r>
            <a:r>
              <a:rPr lang="en-IN" dirty="0">
                <a:ea typeface="Palatino" pitchFamily="2" charset="77"/>
              </a:rPr>
              <a:t>.</a:t>
            </a:r>
          </a:p>
          <a:p>
            <a:pPr marL="357188" indent="-261938"/>
            <a:r>
              <a:rPr lang="en-IN" dirty="0"/>
              <a:t>Use tables, graphs, and charts to highlight trends, patterns, while </a:t>
            </a:r>
            <a:r>
              <a:rPr lang="en-IN" b="1" dirty="0"/>
              <a:t>aligning findings with the project’s objectives</a:t>
            </a:r>
            <a:r>
              <a:rPr lang="en-IN" sz="1800" dirty="0">
                <a:ea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89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423B-3B76-BB2D-540F-6407DD5F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6FD5-56CD-F03C-31B2-41390615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Key Learnings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8B0E23-28B9-A411-F2B9-0AAE335CE30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Use one slide to present key learnings, summarizing significant technical concepts, skills, and methodologies gained during the project.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/>
              <a:t>Highlight outcomes such as</a:t>
            </a:r>
            <a:r>
              <a:rPr lang="en-IN" b="1" dirty="0"/>
              <a:t> blogs, open-source contributions, or certifications</a:t>
            </a:r>
            <a:r>
              <a:rPr lang="en-IN" dirty="0"/>
              <a:t>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1351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0878-8FE6-6431-E84F-16336E6D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43DA-2CB4-07C6-001C-3A639B4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a typeface="Palatino" pitchFamily="2" charset="77"/>
              </a:rPr>
              <a:t>Work Contribution and Attendance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864F80-A98D-C3A6-300F-743060AF58A2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6ED005-6EC0-5EE2-8CB4-7008F054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68397"/>
              </p:ext>
            </p:extLst>
          </p:nvPr>
        </p:nvGraphicFramePr>
        <p:xfrm>
          <a:off x="110168" y="881350"/>
          <a:ext cx="8915266" cy="53232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1264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879060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4265403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1693280867"/>
                    </a:ext>
                  </a:extLst>
                </a:gridCol>
                <a:gridCol w="786550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32934039"/>
                    </a:ext>
                  </a:extLst>
                </a:gridCol>
              </a:tblGrid>
              <a:tr h="507388">
                <a:tc gridSpan="6"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GitHub Repository URL: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737965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Team Member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Roll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Done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(provide complete details)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Work Contribution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Lines of Code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(if any)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Lab Attendance (%)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1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st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2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nd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3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rd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Describe work of 4</a:t>
                      </a:r>
                      <a:r>
                        <a:rPr lang="en-US" sz="1300" b="0" i="0" baseline="30000" dirty="0">
                          <a:latin typeface="Helvetica" pitchFamily="2" charset="0"/>
                        </a:rPr>
                        <a:t>th</a:t>
                      </a:r>
                      <a:r>
                        <a:rPr lang="en-US" sz="1300" b="0" i="0" dirty="0">
                          <a:latin typeface="Helvetica" pitchFamily="2" charset="0"/>
                        </a:rPr>
                        <a:t> team member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88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280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3194-9C46-7B10-5D70-B9C3D987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875B-8D9F-C28E-9A27-52775848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 </a:t>
            </a:r>
            <a:r>
              <a:rPr lang="en-IN" b="0" dirty="0">
                <a:ea typeface="Palatino" pitchFamily="2" charset="77"/>
              </a:rPr>
              <a:t>(as mentioned in weekly log)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A942A6-C262-448C-36C3-8A22D5548AE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8BA634-6669-9F87-EF31-1C4579404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07602"/>
              </p:ext>
            </p:extLst>
          </p:nvPr>
        </p:nvGraphicFramePr>
        <p:xfrm>
          <a:off x="110168" y="881350"/>
          <a:ext cx="8835528" cy="50734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42608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No. of Meetings with Supervisor: 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b="0" i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71582"/>
                  </a:ext>
                </a:extLst>
              </a:tr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3.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4.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5.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912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E7F-6D85-EBF6-EAD4-18BE8EC5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F7BF-D279-302B-94BF-3DB4010A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Supervisor </a:t>
            </a:r>
            <a:r>
              <a:rPr lang="en-IN" dirty="0">
                <a:ea typeface="Palatino" pitchFamily="2" charset="77"/>
              </a:rPr>
              <a:t>Interactions</a:t>
            </a:r>
            <a:r>
              <a:rPr lang="en-IN" sz="2400" dirty="0">
                <a:ea typeface="Palatino" pitchFamily="2" charset="77"/>
              </a:rPr>
              <a:t>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b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75676-26F3-304D-6B9E-B3644390EFBF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>
              <a:buNone/>
            </a:pPr>
            <a:endParaRPr lang="en-IN" sz="1800" dirty="0">
              <a:ea typeface="Palatino" pitchFamily="2" charset="77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900DB-DF9E-B5EC-0B92-06A7F239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704002"/>
              </p:ext>
            </p:extLst>
          </p:nvPr>
        </p:nvGraphicFramePr>
        <p:xfrm>
          <a:off x="110168" y="881350"/>
          <a:ext cx="8835528" cy="46473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1832">
                  <a:extLst>
                    <a:ext uri="{9D8B030D-6E8A-4147-A177-3AD203B41FA5}">
                      <a16:colId xmlns:a16="http://schemas.microsoft.com/office/drawing/2014/main" val="1580173846"/>
                    </a:ext>
                  </a:extLst>
                </a:gridCol>
                <a:gridCol w="1364255">
                  <a:extLst>
                    <a:ext uri="{9D8B030D-6E8A-4147-A177-3AD203B41FA5}">
                      <a16:colId xmlns:a16="http://schemas.microsoft.com/office/drawing/2014/main" val="1787721097"/>
                    </a:ext>
                  </a:extLst>
                </a:gridCol>
                <a:gridCol w="5596569">
                  <a:extLst>
                    <a:ext uri="{9D8B030D-6E8A-4147-A177-3AD203B41FA5}">
                      <a16:colId xmlns:a16="http://schemas.microsoft.com/office/drawing/2014/main" val="1940941142"/>
                    </a:ext>
                  </a:extLst>
                </a:gridCol>
                <a:gridCol w="1222872">
                  <a:extLst>
                    <a:ext uri="{9D8B030D-6E8A-4147-A177-3AD203B41FA5}">
                      <a16:colId xmlns:a16="http://schemas.microsoft.com/office/drawing/2014/main" val="3130860608"/>
                    </a:ext>
                  </a:extLst>
                </a:gridCol>
              </a:tblGrid>
              <a:tr h="507388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Week No.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Duration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Remarks (</a:t>
                      </a:r>
                      <a:r>
                        <a:rPr lang="en-US" sz="1300" b="1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as mentioned in the weekly log</a:t>
                      </a:r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Incorporated</a:t>
                      </a:r>
                    </a:p>
                    <a:p>
                      <a:pPr algn="ctr"/>
                      <a:r>
                        <a:rPr lang="en-US" sz="1300" b="0" i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(Yes/No)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3107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6.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57059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7.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6648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8.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9545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9.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082333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10.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dd/mm/2025 </a:t>
                      </a:r>
                    </a:p>
                    <a:p>
                      <a:pPr algn="ctr"/>
                      <a:r>
                        <a:rPr lang="en-US" sz="1300" b="0" i="0" dirty="0">
                          <a:latin typeface="Helvetica" pitchFamily="2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dd/mm/2025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2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b="0" i="0" dirty="0">
                          <a:latin typeface="Helvetica" pitchFamily="2" charset="0"/>
                        </a:rPr>
                        <a:t>Remark 3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300" b="0" i="0" dirty="0">
                        <a:latin typeface="Helvetica" pitchFamily="2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0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040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3876-A327-89E8-5925-E417551A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DCD2-A236-23D9-E151-3D3D3A17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Future Work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B7E-41FA-08CF-E919-AE860B61B137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dirty="0">
                <a:ea typeface="Palatino" pitchFamily="2" charset="77"/>
              </a:rPr>
              <a:t>Use one slide to describe your future work plan.</a:t>
            </a:r>
            <a:endParaRPr lang="en-IN" sz="18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760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Project Plan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ea typeface="Palatino" pitchFamily="2" charset="77"/>
              </a:rPr>
              <a:t>Use one slide to show your project plan in the form of a Gantt Chart.</a:t>
            </a:r>
          </a:p>
        </p:txBody>
      </p:sp>
    </p:spTree>
    <p:extLst>
      <p:ext uri="{BB962C8B-B14F-4D97-AF65-F5344CB8AC3E}">
        <p14:creationId xmlns:p14="http://schemas.microsoft.com/office/powerpoint/2010/main" val="3318162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/>
              <a:t>Use max. three slides to provide a comprehensive list of at least 25 references in </a:t>
            </a:r>
            <a:r>
              <a:rPr lang="en-IN" sz="1400" b="1" dirty="0"/>
              <a:t>IEEE format</a:t>
            </a:r>
            <a:r>
              <a:rPr lang="en-IN" sz="1400" dirty="0"/>
              <a:t>, </a:t>
            </a:r>
            <a:r>
              <a:rPr lang="en-IN" sz="1400" b="1" dirty="0"/>
              <a:t>which are duly cited in the PPT</a:t>
            </a:r>
            <a:r>
              <a:rPr lang="en-IN" sz="1400" dirty="0"/>
              <a:t>, including journal articles, conference papers, book chapters, websites, blogs, etc. </a:t>
            </a:r>
          </a:p>
          <a:p>
            <a:pPr marL="357188" indent="-261938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400" dirty="0"/>
              <a:t>Ensure the references are </a:t>
            </a:r>
            <a:r>
              <a:rPr lang="en-IN" sz="1400" b="1" dirty="0"/>
              <a:t>accurate and properly formatted</a:t>
            </a:r>
            <a:r>
              <a:rPr lang="en-IN" sz="1400" dirty="0"/>
              <a:t>.</a:t>
            </a:r>
          </a:p>
          <a:p>
            <a:pPr marL="357188" indent="-261938"/>
            <a:r>
              <a:rPr lang="en-IN" sz="1400" dirty="0"/>
              <a:t>See </a:t>
            </a:r>
            <a:r>
              <a:rPr lang="en-IN" sz="1400" b="1" dirty="0"/>
              <a:t>sample</a:t>
            </a:r>
            <a:r>
              <a:rPr lang="en-IN" sz="1400" dirty="0"/>
              <a:t> references on slide 31. Replace these with your own references.</a:t>
            </a:r>
            <a:endParaRPr lang="en-IN" sz="14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82175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0791-3F4D-C8EA-6632-B1C3EC8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DADB-37A7-3298-E4FE-623C4511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A155F-E9D3-CE9B-ED58-F6066AA93EAC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357188" indent="-261938"/>
            <a:r>
              <a:rPr lang="en-IN" sz="1400" dirty="0"/>
              <a:t>Use max. three slides to provide a comprehensive list of at least 25 references in </a:t>
            </a:r>
            <a:r>
              <a:rPr lang="en-IN" sz="1400" b="1" dirty="0"/>
              <a:t>IEEE format</a:t>
            </a:r>
            <a:r>
              <a:rPr lang="en-IN" sz="1400" dirty="0"/>
              <a:t>, </a:t>
            </a:r>
            <a:r>
              <a:rPr lang="en-IN" sz="1400" b="1" dirty="0"/>
              <a:t>which are duly cited in the PPT</a:t>
            </a:r>
            <a:r>
              <a:rPr lang="en-IN" sz="1400" dirty="0"/>
              <a:t>, including journal articles, conference papers, book chapters, websites, blogs, etc. </a:t>
            </a:r>
          </a:p>
          <a:p>
            <a:pPr marL="357188" indent="-261938"/>
            <a:r>
              <a:rPr lang="en-IN" sz="1400" dirty="0"/>
              <a:t>Ensure the references are </a:t>
            </a:r>
            <a:r>
              <a:rPr lang="en-IN" sz="1400" b="1" dirty="0"/>
              <a:t>accurate and properly formatted</a:t>
            </a:r>
            <a:r>
              <a:rPr lang="en-IN" sz="1400" dirty="0"/>
              <a:t>.</a:t>
            </a:r>
          </a:p>
          <a:p>
            <a:pPr marL="357188" indent="-261938"/>
            <a:r>
              <a:rPr lang="en-IN" sz="1400" dirty="0"/>
              <a:t>See </a:t>
            </a:r>
            <a:r>
              <a:rPr lang="en-IN" sz="1400" b="1" dirty="0"/>
              <a:t>sample</a:t>
            </a:r>
            <a:r>
              <a:rPr lang="en-IN" sz="1400" dirty="0"/>
              <a:t> references on slide 26. Replace these with your own references.</a:t>
            </a:r>
            <a:endParaRPr lang="en-IN" sz="1400" dirty="0"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65737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D10-75DD-2551-68D6-620DEA48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ea typeface="Palatino" pitchFamily="2" charset="77"/>
              </a:rPr>
              <a:t>References </a:t>
            </a:r>
            <a:r>
              <a:rPr lang="en-IN" sz="2400" b="0" dirty="0">
                <a:ea typeface="Palatino" pitchFamily="2" charset="77"/>
              </a:rPr>
              <a:t>(</a:t>
            </a:r>
            <a:r>
              <a:rPr lang="en-IN" sz="2400" b="0" dirty="0" err="1">
                <a:ea typeface="Palatino" pitchFamily="2" charset="77"/>
              </a:rPr>
              <a:t>cont</a:t>
            </a:r>
            <a:r>
              <a:rPr lang="en-IN" sz="2400" b="0" dirty="0">
                <a:ea typeface="Palatino" pitchFamily="2" charset="77"/>
              </a:rPr>
              <a:t>…)</a:t>
            </a:r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406400" indent="-398463">
              <a:buNone/>
              <a:tabLst>
                <a:tab pos="350838" algn="l"/>
                <a:tab pos="398463" algn="l"/>
              </a:tabLst>
            </a:pPr>
            <a:r>
              <a:rPr lang="en-IN" sz="1300" dirty="0"/>
              <a:t>[1] 	Y. LeCun, Y. Bengio, and G. E. Hinton, "Deep learning," </a:t>
            </a:r>
            <a:r>
              <a:rPr lang="en-IN" sz="1300" i="1" dirty="0"/>
              <a:t>Nature</a:t>
            </a:r>
            <a:r>
              <a:rPr lang="en-IN" sz="1300" dirty="0"/>
              <a:t>, vol. 521, no. 7553, pp. 436–444, May 2015.</a:t>
            </a:r>
          </a:p>
          <a:p>
            <a:pPr marL="406400" indent="-398463">
              <a:buNone/>
            </a:pPr>
            <a:r>
              <a:rPr lang="en-IN" sz="1300" dirty="0"/>
              <a:t>[2] 	D. Silver, J. </a:t>
            </a:r>
            <a:r>
              <a:rPr lang="en-IN" sz="1300" dirty="0" err="1"/>
              <a:t>Schrittwieser</a:t>
            </a:r>
            <a:r>
              <a:rPr lang="en-IN" sz="1300" dirty="0"/>
              <a:t>, K. Simonyan, et al., "Mastering the game of Go with deep neural networks and tree search," </a:t>
            </a:r>
            <a:r>
              <a:rPr lang="en-IN" sz="1300" i="1" dirty="0"/>
              <a:t>Nature</a:t>
            </a:r>
            <a:r>
              <a:rPr lang="en-IN" sz="1300" dirty="0"/>
              <a:t>, vol. 529, no. 7587, pp. 484–489, Jan. 2016.</a:t>
            </a:r>
          </a:p>
          <a:p>
            <a:pPr marL="406400" indent="-398463">
              <a:buNone/>
            </a:pPr>
            <a:r>
              <a:rPr lang="en-IN" sz="1300" dirty="0"/>
              <a:t>[3]	A. Vaswani, N. </a:t>
            </a:r>
            <a:r>
              <a:rPr lang="en-IN" sz="1300" dirty="0" err="1"/>
              <a:t>Shazeer</a:t>
            </a:r>
            <a:r>
              <a:rPr lang="en-IN" sz="1300" dirty="0"/>
              <a:t>, N. Parmar, et al., "Attention Is All You Need," in </a:t>
            </a:r>
            <a:r>
              <a:rPr lang="en-IN" sz="1300" i="1" dirty="0"/>
              <a:t>Proc. Advances in Neural Information Processing Systems (</a:t>
            </a:r>
            <a:r>
              <a:rPr lang="en-IN" sz="1300" i="1" dirty="0" err="1"/>
              <a:t>NeurIPS</a:t>
            </a:r>
            <a:r>
              <a:rPr lang="en-IN" sz="1300" i="1" dirty="0"/>
              <a:t>)</a:t>
            </a:r>
            <a:r>
              <a:rPr lang="en-IN" sz="1300" dirty="0"/>
              <a:t>, Long Beach, CA, USA, 2017, pp. 5998–6008.</a:t>
            </a:r>
          </a:p>
          <a:p>
            <a:pPr marL="406400" indent="-398463">
              <a:buNone/>
            </a:pPr>
            <a:r>
              <a:rPr lang="en-IN" sz="1300" dirty="0"/>
              <a:t>[4] 	S. J. Russell and P. Norvig, "Search in Complex Environments," in </a:t>
            </a:r>
            <a:r>
              <a:rPr lang="en-IN" sz="1300" i="1" dirty="0"/>
              <a:t>Artificial Intelligence: A Modern Approach</a:t>
            </a:r>
            <a:r>
              <a:rPr lang="en-IN" sz="1300" dirty="0"/>
              <a:t>, 4th ed. Upper Saddle River, NJ, USA: Pearson, 2020, </a:t>
            </a:r>
            <a:r>
              <a:rPr lang="en-IN" sz="1300" dirty="0" err="1"/>
              <a:t>ch.</a:t>
            </a:r>
            <a:r>
              <a:rPr lang="en-IN" sz="1300" dirty="0"/>
              <a:t> 4, pp. 127–180.</a:t>
            </a:r>
          </a:p>
          <a:p>
            <a:pPr marL="406400" indent="-398463">
              <a:buNone/>
            </a:pPr>
            <a:r>
              <a:rPr lang="en-IN" sz="1300" dirty="0"/>
              <a:t>[6]	I. Goodfellow, Y. Bengio, and A. Courville, "Optimization for Training Deep Models," in </a:t>
            </a:r>
            <a:r>
              <a:rPr lang="en-IN" sz="1300" i="1" dirty="0"/>
              <a:t>Deep Learning</a:t>
            </a:r>
            <a:r>
              <a:rPr lang="en-IN" sz="1300" dirty="0"/>
              <a:t>. Cambridge, MA, USA: MIT Press, 2016, </a:t>
            </a:r>
            <a:r>
              <a:rPr lang="en-IN" sz="1300" dirty="0" err="1"/>
              <a:t>ch.</a:t>
            </a:r>
            <a:r>
              <a:rPr lang="en-IN" sz="1300" dirty="0"/>
              <a:t> 8, pp. 271–322.</a:t>
            </a:r>
          </a:p>
          <a:p>
            <a:pPr marL="406400" indent="-398463">
              <a:buNone/>
            </a:pPr>
            <a:r>
              <a:rPr lang="en-IN" sz="1300" dirty="0"/>
              <a:t>[7]	OpenAI, "GPT-4 Technical Report," Mar. 2023. [Online]. Available: https://arxiv.org/abs/2303.08774</a:t>
            </a:r>
          </a:p>
          <a:p>
            <a:pPr marL="406400" indent="-398463">
              <a:buNone/>
            </a:pPr>
            <a:r>
              <a:rPr lang="en-IN" sz="1300" dirty="0"/>
              <a:t>[8]	DeepMind, "AlphaFold: Revolutionizing Biology with AI," July 2021. [Online]. Available: https://www.deepmind.com/research/highlighted-research/alphafold</a:t>
            </a:r>
          </a:p>
          <a:p>
            <a:pPr marL="406400" indent="-398463">
              <a:buNone/>
            </a:pPr>
            <a:r>
              <a:rPr lang="en-IN" sz="1300" dirty="0"/>
              <a:t>[9]	A. </a:t>
            </a:r>
            <a:r>
              <a:rPr lang="en-IN" sz="1300" dirty="0" err="1"/>
              <a:t>Karpathy</a:t>
            </a:r>
            <a:r>
              <a:rPr lang="en-IN" sz="1300" dirty="0"/>
              <a:t>, "The Unreasonable Effectiveness of Recurrent Neural Networks," </a:t>
            </a:r>
            <a:r>
              <a:rPr lang="en-IN" sz="1300" i="1" dirty="0"/>
              <a:t>Andrej </a:t>
            </a:r>
            <a:r>
              <a:rPr lang="en-IN" sz="1300" i="1" dirty="0" err="1"/>
              <a:t>Karpathy’s</a:t>
            </a:r>
            <a:r>
              <a:rPr lang="en-IN" sz="1300" i="1" dirty="0"/>
              <a:t> Blog</a:t>
            </a:r>
            <a:r>
              <a:rPr lang="en-IN" sz="1300" dirty="0"/>
              <a:t>, May 21, 2015. [Online]. Available: http://karpathy.github.io/2015/05/21/rnn-effectiveness/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35227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10AA4B-3410-F422-1F80-8D321A126C76}"/>
              </a:ext>
            </a:extLst>
          </p:cNvPr>
          <p:cNvSpPr txBox="1">
            <a:spLocks/>
          </p:cNvSpPr>
          <p:nvPr/>
        </p:nvSpPr>
        <p:spPr bwMode="auto">
          <a:xfrm>
            <a:off x="77118" y="804231"/>
            <a:ext cx="8956714" cy="59601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1" sz="18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4287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771650" indent="-228600" algn="just" rtl="0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1600">
                <a:solidFill>
                  <a:schemeClr val="tx1"/>
                </a:solidFill>
                <a:latin typeface="Helvetica" pitchFamily="2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just">
              <a:lnSpc>
                <a:spcPct val="150000"/>
              </a:lnSpc>
              <a:buNone/>
            </a:pPr>
            <a:endParaRPr lang="en-IN" sz="1400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endParaRPr lang="en-IN" sz="2000" b="1" dirty="0">
              <a:ea typeface="Palatino" pitchFamily="2" charset="77"/>
            </a:endParaRPr>
          </a:p>
          <a:p>
            <a:pPr marL="95250" indent="0" algn="ctr">
              <a:lnSpc>
                <a:spcPct val="150000"/>
              </a:lnSpc>
              <a:buNone/>
            </a:pPr>
            <a:r>
              <a:rPr lang="en-IN" sz="2000" b="1" dirty="0">
                <a:ea typeface="Palatino" pitchFamily="2" charset="77"/>
              </a:rPr>
              <a:t>Thanks</a:t>
            </a:r>
            <a:r>
              <a:rPr lang="en-IN" sz="1400" dirty="0">
                <a:ea typeface="Palatino" pitchFamily="2" charset="77"/>
              </a:rPr>
              <a:t>.</a:t>
            </a:r>
          </a:p>
        </p:txBody>
      </p:sp>
      <p:pic>
        <p:nvPicPr>
          <p:cNvPr id="1034" name="Picture 10" descr="🙏">
            <a:extLst>
              <a:ext uri="{FF2B5EF4-FFF2-40B4-BE49-F238E27FC236}">
                <a16:creationId xmlns:a16="http://schemas.microsoft.com/office/drawing/2014/main" id="{75E1F11E-915E-CA0A-3D1E-80341D39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164" y="2663328"/>
            <a:ext cx="765672" cy="76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028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316&quot;&gt;&lt;object type=&quot;3&quot; unique_id=&quot;10317&quot;&gt;&lt;property id=&quot;20148&quot; value=&quot;5&quot;/&gt;&lt;property id=&quot;20300&quot; value=&quot;Slide 1 - &amp;quot;A Novel Framework for Analysis of Big Data&amp;quot;&quot;/&gt;&lt;property id=&quot;20307&quot; value=&quot;325&quot;/&gt;&lt;/object&gt;&lt;object type=&quot;3&quot; unique_id=&quot;10325&quot;&gt;&lt;property id=&quot;20148&quot; value=&quot;5&quot;/&gt;&lt;property id=&quot;20300&quot; value=&quot;Slide 3 - &amp;quot;Introduction&amp;quot;&quot;/&gt;&lt;property id=&quot;20307&quot; value=&quot;392&quot;/&gt;&lt;/object&gt;&lt;object type=&quot;3&quot; unique_id=&quot;10327&quot;&gt;&lt;property id=&quot;20148&quot; value=&quot;5&quot;/&gt;&lt;property id=&quot;20300&quot; value=&quot;Slide 4 - &amp;quot;Introduction (cont…)&amp;quot;&quot;/&gt;&lt;property id=&quot;20307&quot; value=&quot;395&quot;/&gt;&lt;/object&gt;&lt;object type=&quot;3&quot; unique_id=&quot;10333&quot;&gt;&lt;property id=&quot;20148&quot; value=&quot;5&quot;/&gt;&lt;property id=&quot;20300&quot; value=&quot;Slide 5 - &amp;quot;Big Data – A Definition&amp;quot;&quot;/&gt;&lt;property id=&quot;20307&quot; value=&quot;386&quot;/&gt;&lt;/object&gt;&lt;object type=&quot;3&quot; unique_id=&quot;10334&quot;&gt;&lt;property id=&quot;20148&quot; value=&quot;5&quot;/&gt;&lt;property id=&quot;20300&quot; value=&quot;Slide 6 - &amp;quot;Characteristics of Big Data&amp;quot;&quot;/&gt;&lt;property id=&quot;20307&quot; value=&quot;355&quot;/&gt;&lt;/object&gt;&lt;object type=&quot;3&quot; unique_id=&quot;10339&quot;&gt;&lt;property id=&quot;20148&quot; value=&quot;5&quot;/&gt;&lt;property id=&quot;20300&quot; value=&quot;Slide 7 - &amp;quot;Big Data Analytics&amp;quot;&quot;/&gt;&lt;property id=&quot;20307&quot; value=&quot;387&quot;/&gt;&lt;/object&gt;&lt;object type=&quot;3&quot; unique_id=&quot;10369&quot;&gt;&lt;property id=&quot;20148&quot; value=&quot;5&quot;/&gt;&lt;property id=&quot;20300&quot; value=&quot;Slide 8 - &amp;quot;List of Development Tools&amp;quot;&quot;/&gt;&lt;property id=&quot;20307&quot; value=&quot;505&quot;/&gt;&lt;/object&gt;&lt;object type=&quot;3&quot; unique_id=&quot;10371&quot;&gt;&lt;property id=&quot;20148&quot; value=&quot;5&quot;/&gt;&lt;property id=&quot;20300&quot; value=&quot;Slide 11 - &amp;quot;Malware Classification: A Case Study&amp;quot;&quot;/&gt;&lt;property id=&quot;20307&quot; value=&quot;514&quot;/&gt;&lt;/object&gt;&lt;object type=&quot;3&quot; unique_id=&quot;10372&quot;&gt;&lt;property id=&quot;20148&quot; value=&quot;5&quot;/&gt;&lt;property id=&quot;20300&quot; value=&quot;Slide 55&quot;/&gt;&lt;property id=&quot;20307&quot; value=&quot;452&quot;/&gt;&lt;/object&gt;&lt;object type=&quot;3&quot; unique_id=&quot;11475&quot;&gt;&lt;property id=&quot;20148&quot; value=&quot;5&quot;/&gt;&lt;property id=&quot;20300&quot; value=&quot;Slide 2 - &amp;quot;Outline&amp;quot;&quot;/&gt;&lt;property id=&quot;20307&quot; value=&quot;516&quot;/&gt;&lt;/object&gt;&lt;object type=&quot;3&quot; unique_id=&quot;11477&quot;&gt;&lt;property id=&quot;20148&quot; value=&quot;5&quot;/&gt;&lt;property id=&quot;20300&quot; value=&quot;Slide 21 - &amp;quot;Research Gaps&amp;quot;&quot;/&gt;&lt;property id=&quot;20307&quot; value=&quot;517&quot;/&gt;&lt;/object&gt;&lt;object type=&quot;3&quot; unique_id=&quot;11478&quot;&gt;&lt;property id=&quot;20148&quot; value=&quot;5&quot;/&gt;&lt;property id=&quot;20300&quot; value=&quot;Slide 22 - &amp;quot;Research Gaps (Cont…)&amp;quot;&quot;/&gt;&lt;property id=&quot;20307&quot; value=&quot;528&quot;/&gt;&lt;/object&gt;&lt;object type=&quot;3&quot; unique_id=&quot;11479&quot;&gt;&lt;property id=&quot;20148&quot; value=&quot;5&quot;/&gt;&lt;property id=&quot;20300&quot; value=&quot;Slide 23 - &amp;quot;Problem Definition&amp;quot;&quot;/&gt;&lt;property id=&quot;20307&quot; value=&quot;519&quot;/&gt;&lt;/object&gt;&lt;object type=&quot;3&quot; unique_id=&quot;11480&quot;&gt;&lt;property id=&quot;20148&quot; value=&quot;5&quot;/&gt;&lt;property id=&quot;20300&quot; value=&quot;Slide 24 - &amp;quot;Research Objectives&amp;quot;&quot;/&gt;&lt;property id=&quot;20307&quot; value=&quot;518&quot;/&gt;&lt;/object&gt;&lt;object type=&quot;3&quot; unique_id=&quot;11481&quot;&gt;&lt;property id=&quot;20148&quot; value=&quot;5&quot;/&gt;&lt;property id=&quot;20300&quot; value=&quot;Slide 25 - &amp;quot;Research Objectives 1&amp;quot;&quot;/&gt;&lt;property id=&quot;20307&quot; value=&quot;520&quot;/&gt;&lt;/object&gt;&lt;object type=&quot;3&quot; unique_id=&quot;11482&quot;&gt;&lt;property id=&quot;20148&quot; value=&quot;5&quot;/&gt;&lt;property id=&quot;20300&quot; value=&quot;Slide 26 - &amp;quot;Research Objectives 2&amp;quot;&quot;/&gt;&lt;property id=&quot;20307&quot; value=&quot;530&quot;/&gt;&lt;/object&gt;&lt;object type=&quot;3&quot; unique_id=&quot;11483&quot;&gt;&lt;property id=&quot;20148&quot; value=&quot;5&quot;/&gt;&lt;property id=&quot;20300&quot; value=&quot;Slide 27 - &amp;quot;Research Objectives 3&amp;quot;&quot;/&gt;&lt;property id=&quot;20307&quot; value=&quot;531&quot;/&gt;&lt;/object&gt;&lt;object type=&quot;3&quot; unique_id=&quot;11484&quot;&gt;&lt;property id=&quot;20148&quot; value=&quot;5&quot;/&gt;&lt;property id=&quot;20300&quot; value=&quot;Slide 28 - &amp;quot;Architecture for Big Data Analytics&amp;quot;&quot;/&gt;&lt;property id=&quot;20307&quot; value=&quot;522&quot;/&gt;&lt;/object&gt;&lt;object type=&quot;3&quot; unique_id=&quot;11485&quot;&gt;&lt;property id=&quot;20148&quot; value=&quot;5&quot;/&gt;&lt;property id=&quot;20300&quot; value=&quot;Slide 50 - &amp;quot;Key Contributions&amp;quot;&quot;/&gt;&lt;property id=&quot;20307&quot; value=&quot;523&quot;/&gt;&lt;/object&gt;&lt;object type=&quot;3&quot; unique_id=&quot;11486&quot;&gt;&lt;property id=&quot;20148&quot; value=&quot;5&quot;/&gt;&lt;property id=&quot;20300&quot; value=&quot;Slide 51 - &amp;quot;Key Contributions&amp;quot;&quot;/&gt;&lt;property id=&quot;20307&quot; value=&quot;529&quot;/&gt;&lt;/object&gt;&lt;object type=&quot;3&quot; unique_id=&quot;11487&quot;&gt;&lt;property id=&quot;20148&quot; value=&quot;5&quot;/&gt;&lt;property id=&quot;20300&quot; value=&quot;Slide 52 - &amp;quot;Future Scope&amp;quot;&quot;/&gt;&lt;property id=&quot;20307&quot; value=&quot;524&quot;/&gt;&lt;/object&gt;&lt;object type=&quot;3&quot; unique_id=&quot;11488&quot;&gt;&lt;property id=&quot;20148&quot; value=&quot;5&quot;/&gt;&lt;property id=&quot;20300&quot; value=&quot;Slide 53 - &amp;quot;List of Publications&amp;quot;&quot;/&gt;&lt;property id=&quot;20307&quot; value=&quot;525&quot;/&gt;&lt;/object&gt;&lt;object type=&quot;3&quot; unique_id=&quot;11489&quot;&gt;&lt;property id=&quot;20148&quot; value=&quot;5&quot;/&gt;&lt;property id=&quot;20300&quot; value=&quot;Slide 54 - &amp;quot;References&amp;quot;&quot;/&gt;&lt;property id=&quot;20307&quot; value=&quot;526&quot;/&gt;&lt;/object&gt;&lt;object type=&quot;3&quot; unique_id=&quot;12645&quot;&gt;&lt;property id=&quot;20148&quot; value=&quot;5&quot;/&gt;&lt;property id=&quot;20300&quot; value=&quot;Slide 31&quot;/&gt;&lt;property id=&quot;20307&quot; value=&quot;533&quot;/&gt;&lt;/object&gt;&lt;object type=&quot;3&quot; unique_id=&quot;12646&quot;&gt;&lt;property id=&quot;20148&quot; value=&quot;5&quot;/&gt;&lt;property id=&quot;20300&quot; value=&quot;Slide 32&quot;/&gt;&lt;property id=&quot;20307&quot; value=&quot;534&quot;/&gt;&lt;/object&gt;&lt;object type=&quot;3&quot; unique_id=&quot;12647&quot;&gt;&lt;property id=&quot;20148&quot; value=&quot;5&quot;/&gt;&lt;property id=&quot;20300&quot; value=&quot;Slide 33&quot;/&gt;&lt;property id=&quot;20307&quot; value=&quot;535&quot;/&gt;&lt;/object&gt;&lt;object type=&quot;3&quot; unique_id=&quot;13251&quot;&gt;&lt;property id=&quot;20148&quot; value=&quot;5&quot;/&gt;&lt;property id=&quot;20300&quot; value=&quot;Slide 29 - &amp;quot;Data Preparation&amp;quot;&quot;/&gt;&lt;property id=&quot;20307&quot; value=&quot;537&quot;/&gt;&lt;/object&gt;&lt;object type=&quot;3&quot; unique_id=&quot;13252&quot;&gt;&lt;property id=&quot;20148&quot; value=&quot;5&quot;/&gt;&lt;property id=&quot;20300&quot; value=&quot;Slide 30 - &amp;quot;Functional Flow of Malware Trend Analysis&amp;quot;&quot;/&gt;&lt;property id=&quot;20307&quot; value=&quot;536&quot;/&gt;&lt;/object&gt;&lt;object type=&quot;3&quot; unique_id=&quot;13253&quot;&gt;&lt;property id=&quot;20148&quot; value=&quot;5&quot;/&gt;&lt;property id=&quot;20300&quot; value=&quot;Slide 34 - &amp;quot;Conclusion&amp;quot;&quot;/&gt;&lt;property id=&quot;20307&quot; value=&quot;538&quot;/&gt;&lt;/object&gt;&lt;object type=&quot;3&quot; unique_id=&quot;14250&quot;&gt;&lt;property id=&quot;20148&quot; value=&quot;5&quot;/&gt;&lt;property id=&quot;20300&quot; value=&quot;Slide 16 - &amp;quot;Comparison of open source big data stream processing frameworks&amp;quot;&quot;/&gt;&lt;property id=&quot;20307&quot; value=&quot;542&quot;/&gt;&lt;/object&gt;&lt;object type=&quot;3&quot; unique_id=&quot;14251&quot;&gt;&lt;property id=&quot;20148&quot; value=&quot;5&quot;/&gt;&lt;property id=&quot;20300&quot; value=&quot;Slide 17 - &amp;quot;Comparison of open source big data stream processing frameworks&amp;quot;&quot;/&gt;&lt;property id=&quot;20307&quot; value=&quot;545&quot;/&gt;&lt;/object&gt;&lt;object type=&quot;3&quot; unique_id=&quot;15004&quot;&gt;&lt;property id=&quot;20148&quot; value=&quot;5&quot;/&gt;&lt;property id=&quot;20300&quot; value=&quot;Slide 18 - &amp;quot;Malware Detection and Classification Techniques&amp;quot;&quot;/&gt;&lt;property id=&quot;20307&quot; value=&quot;548&quot;/&gt;&lt;/object&gt;&lt;object type=&quot;3&quot; unique_id=&quot;15005&quot;&gt;&lt;property id=&quot;20148&quot; value=&quot;5&quot;/&gt;&lt;property id=&quot;20300&quot; value=&quot;Slide 19 - &amp;quot;Malware Detection and Classification Techniques&amp;quot;&quot;/&gt;&lt;property id=&quot;20307&quot; value=&quot;549&quot;/&gt;&lt;/object&gt;&lt;object type=&quot;3&quot; unique_id=&quot;15006&quot;&gt;&lt;property id=&quot;20148&quot; value=&quot;5&quot;/&gt;&lt;property id=&quot;20300&quot; value=&quot;Slide 20 - &amp;quot;Malware Detection and Classification Techniques&amp;quot;&quot;/&gt;&lt;property id=&quot;20307&quot; value=&quot;550&quot;/&gt;&lt;/object&gt;&lt;object type=&quot;3&quot; unique_id=&quot;15624&quot;&gt;&lt;property id=&quot;20148&quot; value=&quot;5&quot;/&gt;&lt;property id=&quot;20300&quot; value=&quot;Slide 12 - &amp;quot;Literature Review&amp;quot;&quot;/&gt;&lt;property id=&quot;20307&quot; value=&quot;552&quot;/&gt;&lt;/object&gt;&lt;object type=&quot;3&quot; unique_id=&quot;15625&quot;&gt;&lt;property id=&quot;20148&quot; value=&quot;5&quot;/&gt;&lt;property id=&quot;20300&quot; value=&quot;Slide 13 - &amp;quot;A bibliometric study of relevant literature in academics/industry&amp;quot;&quot;/&gt;&lt;property id=&quot;20307&quot; value=&quot;553&quot;/&gt;&lt;/object&gt;&lt;object type=&quot;3&quot; unique_id=&quot;15626&quot;&gt;&lt;property id=&quot;20148&quot; value=&quot;5&quot;/&gt;&lt;property id=&quot;20300&quot; value=&quot;Slide 14 - &amp;quot;Literature Review&amp;quot;&quot;/&gt;&lt;property id=&quot;20307&quot; value=&quot;551&quot;/&gt;&lt;/object&gt;&lt;object type=&quot;3&quot; unique_id=&quot;15627&quot;&gt;&lt;property id=&quot;20148&quot; value=&quot;5&quot;/&gt;&lt;property id=&quot;20300&quot; value=&quot;Slide 15 - &amp;quot;Comparison of open source big data stream processing frameworks&amp;quot;&quot;/&gt;&lt;property id=&quot;20307&quot; value=&quot;556&quot;/&gt;&lt;/object&gt;&lt;object type=&quot;3&quot; unique_id=&quot;16029&quot;&gt;&lt;property id=&quot;20148&quot; value=&quot;5&quot;/&gt;&lt;property id=&quot;20300&quot; value=&quot;Slide 35 - &amp;quot;Big Data Framework for Zero-Day Malware Classification&amp;quot;&quot;/&gt;&lt;property id=&quot;20307&quot; value=&quot;557&quot;/&gt;&lt;/object&gt;&lt;object type=&quot;3&quot; unique_id=&quot;16030&quot;&gt;&lt;property id=&quot;20148&quot; value=&quot;5&quot;/&gt;&lt;property id=&quot;20300&quot; value=&quot;Slide 42 - &amp;quot;Improving Malware Detection using Big Data and EL&amp;quot;&quot;/&gt;&lt;property id=&quot;20307&quot; value=&quot;558&quot;/&gt;&lt;/object&gt;&lt;object type=&quot;3&quot; unique_id=&quot;16031&quot;&gt;&lt;property id=&quot;20148&quot; value=&quot;5&quot;/&gt;&lt;property id=&quot;20300&quot; value=&quot;Slide 49 - &amp;quot;Malware Classification using Big Data and Deep Neural Network&amp;quot;&quot;/&gt;&lt;property id=&quot;20307&quot; value=&quot;559&quot;/&gt;&lt;/object&gt;&lt;object type=&quot;3&quot; unique_id=&quot;16282&quot;&gt;&lt;property id=&quot;20148&quot; value=&quot;5&quot;/&gt;&lt;property id=&quot;20300&quot; value=&quot;Slide 44 - &amp;quot;Proposed Schemes&amp;quot;&quot;/&gt;&lt;property id=&quot;20307&quot; value=&quot;560&quot;/&gt;&lt;/object&gt;&lt;object type=&quot;3&quot; unique_id=&quot;16872&quot;&gt;&lt;property id=&quot;20148&quot; value=&quot;5&quot;/&gt;&lt;property id=&quot;20300&quot; value=&quot;Slide 43 - &amp;quot;Feature Vectorization&amp;quot;&quot;/&gt;&lt;property id=&quot;20307&quot; value=&quot;562&quot;/&gt;&lt;/object&gt;&lt;object type=&quot;3&quot; unique_id=&quot;16873&quot;&gt;&lt;property id=&quot;20148&quot; value=&quot;5&quot;/&gt;&lt;property id=&quot;20300&quot; value=&quot;Slide 45 - &amp;quot;Experimental Results and Evaluation&amp;quot;&quot;/&gt;&lt;property id=&quot;20307&quot; value=&quot;561&quot;/&gt;&lt;/object&gt;&lt;object type=&quot;3&quot; unique_id=&quot;16874&quot;&gt;&lt;property id=&quot;20148&quot; value=&quot;5&quot;/&gt;&lt;property id=&quot;20300&quot; value=&quot;Slide 46 - &amp;quot;Evaluation Results&amp;quot;&quot;/&gt;&lt;property id=&quot;20307&quot; value=&quot;563&quot;/&gt;&lt;/object&gt;&lt;object type=&quot;3&quot; unique_id=&quot;16875&quot;&gt;&lt;property id=&quot;20148&quot; value=&quot;5&quot;/&gt;&lt;property id=&quot;20300&quot; value=&quot;Slide 47 - &amp;quot;Evaluation Results&amp;quot;&quot;/&gt;&lt;property id=&quot;20307&quot; value=&quot;564&quot;/&gt;&lt;/object&gt;&lt;object type=&quot;3&quot; unique_id=&quot;16876&quot;&gt;&lt;property id=&quot;20148&quot; value=&quot;5&quot;/&gt;&lt;property id=&quot;20300&quot; value=&quot;Slide 48 - &amp;quot;Conclusion&amp;quot;&quot;/&gt;&lt;property id=&quot;20307&quot; value=&quot;565&quot;/&gt;&lt;/object&gt;&lt;object type=&quot;3&quot; unique_id=&quot;17661&quot;&gt;&lt;property id=&quot;20148&quot; value=&quot;5&quot;/&gt;&lt;property id=&quot;20300&quot; value=&quot;Slide 36 - &amp;quot;Data Preparation&amp;quot;&quot;/&gt;&lt;property id=&quot;20307&quot; value=&quot;566&quot;/&gt;&lt;/object&gt;&lt;object type=&quot;3&quot; unique_id=&quot;17662&quot;&gt;&lt;property id=&quot;20148&quot; value=&quot;5&quot;/&gt;&lt;property id=&quot;20300&quot; value=&quot;Slide 37 - &amp;quot;Big Data Framework for Malware Classification&amp;quot;&quot;/&gt;&lt;property id=&quot;20307&quot; value=&quot;568&quot;/&gt;&lt;/object&gt;&lt;object type=&quot;3&quot; unique_id=&quot;17663&quot;&gt;&lt;property id=&quot;20148&quot; value=&quot;5&quot;/&gt;&lt;property id=&quot;20300&quot; value=&quot;Slide 38 - &amp;quot;Feature Extraction&amp;quot;&quot;/&gt;&lt;property id=&quot;20307&quot; value=&quot;571&quot;/&gt;&lt;/object&gt;&lt;object type=&quot;3&quot; unique_id=&quot;17664&quot;&gt;&lt;property id=&quot;20148&quot; value=&quot;5&quot;/&gt;&lt;property id=&quot;20300&quot; value=&quot;Slide 39 - &amp;quot;Impact of Features on Malware Classification&amp;quot;&quot;/&gt;&lt;property id=&quot;20307&quot; value=&quot;569&quot;/&gt;&lt;/object&gt;&lt;object type=&quot;3&quot; unique_id=&quot;17665&quot;&gt;&lt;property id=&quot;20148&quot; value=&quot;5&quot;/&gt;&lt;property id=&quot;20300&quot; value=&quot;Slide 40 - &amp;quot;Experimental Results&amp;quot;&quot;/&gt;&lt;property id=&quot;20307&quot; value=&quot;570&quot;/&gt;&lt;/object&gt;&lt;object type=&quot;3&quot; unique_id=&quot;18034&quot;&gt;&lt;property id=&quot;20148&quot; value=&quot;5&quot;/&gt;&lt;property id=&quot;20300&quot; value=&quot;Slide 41 - &amp;quot;Conclusion&amp;quot;&quot;/&gt;&lt;property id=&quot;20307&quot; value=&quot;572&quot;/&gt;&lt;/object&gt;&lt;object type=&quot;3&quot; unique_id=&quot;20918&quot;&gt;&lt;property id=&quot;20148&quot; value=&quot;5&quot;/&gt;&lt;property id=&quot;20300&quot; value=&quot;Slide 9 - &amp;quot;Scalable Machine Learning Libraries&amp;quot;&quot;/&gt;&lt;property id=&quot;20307&quot; value=&quot;575&quot;/&gt;&lt;/object&gt;&lt;object type=&quot;3&quot; unique_id=&quot;20919&quot;&gt;&lt;property id=&quot;20148&quot; value=&quot;5&quot;/&gt;&lt;property id=&quot;20300&quot; value=&quot;Slide 10 - &amp;quot;High Level Conceptual Architecture of Big Data Security Analytics&amp;quot;&quot;/&gt;&lt;property id=&quot;20307&quot; value=&quot;576&quot;/&gt;&lt;/object&gt;&lt;/object&gt;&lt;object type=&quot;8&quot; unique_id=&quot;1043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1_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1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21346</TotalTime>
  <Words>1792</Words>
  <Application>Microsoft Macintosh PowerPoint</Application>
  <PresentationFormat>On-screen Show (4:3)</PresentationFormat>
  <Paragraphs>308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MS PGothic</vt:lpstr>
      <vt:lpstr>Arial</vt:lpstr>
      <vt:lpstr>Calibri</vt:lpstr>
      <vt:lpstr>Calibri Light</vt:lpstr>
      <vt:lpstr>Courier New</vt:lpstr>
      <vt:lpstr>Helvetica</vt:lpstr>
      <vt:lpstr>Palatino</vt:lpstr>
      <vt:lpstr>Tahoma</vt:lpstr>
      <vt:lpstr>Times New Roman</vt:lpstr>
      <vt:lpstr>Verdana</vt:lpstr>
      <vt:lpstr>Webdings</vt:lpstr>
      <vt:lpstr>1_os-8</vt:lpstr>
      <vt:lpstr>Custom Design</vt:lpstr>
      <vt:lpstr>Project Title</vt:lpstr>
      <vt:lpstr>Outline</vt:lpstr>
      <vt:lpstr>Introduction</vt:lpstr>
      <vt:lpstr>Problem Statement</vt:lpstr>
      <vt:lpstr>Objectives</vt:lpstr>
      <vt:lpstr>Literature Review</vt:lpstr>
      <vt:lpstr>Literature Review (cont…)</vt:lpstr>
      <vt:lpstr>Literature Review (cont…)</vt:lpstr>
      <vt:lpstr>Literature Review (cont…)</vt:lpstr>
      <vt:lpstr>Literature Review (cont…)</vt:lpstr>
      <vt:lpstr>Work Done (after Mid-Term Evaluation)</vt:lpstr>
      <vt:lpstr>Project Design</vt:lpstr>
      <vt:lpstr>Project Design (cont…)</vt:lpstr>
      <vt:lpstr>Project Design (cont…)</vt:lpstr>
      <vt:lpstr>Tools, Technologies and Languages</vt:lpstr>
      <vt:lpstr>Tools, Technologies and Languages (cont…)</vt:lpstr>
      <vt:lpstr>Dataset</vt:lpstr>
      <vt:lpstr>Implementation</vt:lpstr>
      <vt:lpstr>Implementation (cont…)</vt:lpstr>
      <vt:lpstr>Implementation (cont…)</vt:lpstr>
      <vt:lpstr>Experimental Results and Evaluation</vt:lpstr>
      <vt:lpstr>Experimental Results and Evaluation (cont…)</vt:lpstr>
      <vt:lpstr>Experimental Results and Evaluation (cont…)</vt:lpstr>
      <vt:lpstr>Key Learnings</vt:lpstr>
      <vt:lpstr>Work Contribution and Attendance</vt:lpstr>
      <vt:lpstr>Supervisor Interactions (as mentioned in weekly log)</vt:lpstr>
      <vt:lpstr>Supervisor Interactions (cont…)</vt:lpstr>
      <vt:lpstr>Future Work</vt:lpstr>
      <vt:lpstr>Project Plan</vt:lpstr>
      <vt:lpstr>References</vt:lpstr>
      <vt:lpstr>References (cont…)</vt:lpstr>
      <vt:lpstr>References (cont…)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Sanjay Jain Sanjay Jain</cp:lastModifiedBy>
  <cp:revision>1490</cp:revision>
  <cp:lastPrinted>2025-09-08T06:45:20Z</cp:lastPrinted>
  <dcterms:created xsi:type="dcterms:W3CDTF">2008-07-20T15:16:37Z</dcterms:created>
  <dcterms:modified xsi:type="dcterms:W3CDTF">2025-11-12T11:33:59Z</dcterms:modified>
</cp:coreProperties>
</file>